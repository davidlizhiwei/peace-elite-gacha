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D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52898" y="168920"/>
            <a:ext cx="5638205" cy="4805660"/>
          </a:xfrm>
          <a:prstGeom prst="roundRect">
            <a:avLst>
              <a:gd name="adj" fmla="val 4228"/>
            </a:avLst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304800" dist="76200" dir="540000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603245" y="803821"/>
            <a:ext cx="3937510" cy="1158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60"/>
              </a:lnSpc>
              <a:spcAft>
                <a:spcPts val="2500"/>
              </a:spcAft>
              <a:buNone/>
            </a:pPr>
            <a:r>
              <a:rPr lang="en-US" sz="3800" dirty="0">
                <a:solidFill>
                  <a:srgbClr val="1C3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诺华制药数字化与</a:t>
            </a:r>
            <a:endParaRPr lang="en-US" sz="3800" dirty="0"/>
          </a:p>
          <a:p>
            <a:pPr algn="ctr" indent="0" marL="0">
              <a:lnSpc>
                <a:spcPts val="4560"/>
              </a:lnSpc>
              <a:spcAft>
                <a:spcPts val="2500"/>
              </a:spcAft>
              <a:buNone/>
            </a:pPr>
            <a:r>
              <a:rPr lang="en-US" sz="3800" dirty="0">
                <a:solidFill>
                  <a:srgbClr val="1C3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治理实践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2603245" y="2279452"/>
            <a:ext cx="393751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500"/>
              </a:spcAft>
              <a:buNone/>
            </a:pPr>
            <a:r>
              <a:rPr lang="en-US" sz="2000" dirty="0">
                <a:solidFill>
                  <a:srgbClr val="00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生成式 AI 赋能药企创新全景解析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603245" y="3076277"/>
            <a:ext cx="39375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分享人：李智伟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603245" y="3425428"/>
            <a:ext cx="39375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诺华制药中国区数据数字信息技术负责人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603245" y="3990529"/>
            <a:ext cx="39375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500"/>
              </a:spcBef>
              <a:spcAft>
                <a:spcPts val="800"/>
              </a:spcAft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HBRC TIME 及 CIO 的夜读时光访谈整理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36427"/>
          </a:xfrm>
          <a:prstGeom prst="rect">
            <a:avLst/>
          </a:prstGeom>
          <a:solidFill>
            <a:srgbClr val="1C3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3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44401" y="1063377"/>
            <a:ext cx="8255198" cy="436364"/>
          </a:xfrm>
          <a:prstGeom prst="roundRect">
            <a:avLst>
              <a:gd name="adj" fmla="val 232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72976" y="1063377"/>
            <a:ext cx="0" cy="436364"/>
          </a:xfrm>
          <a:prstGeom prst="line">
            <a:avLst/>
          </a:prstGeom>
          <a:noFill/>
          <a:ln w="57150">
            <a:solidFill>
              <a:srgbClr val="00A8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3951" y="1190179"/>
            <a:ext cx="8051113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C3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pPr algn="l" indent="0" marL="0">
              <a:lnSpc>
                <a:spcPts val="14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诺华概况 - 坚定的长期创新者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44401" y="1575941"/>
            <a:ext cx="8255198" cy="436364"/>
          </a:xfrm>
          <a:prstGeom prst="roundRect">
            <a:avLst>
              <a:gd name="adj" fmla="val 232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72976" y="1575941"/>
            <a:ext cx="0" cy="436364"/>
          </a:xfrm>
          <a:prstGeom prst="line">
            <a:avLst/>
          </a:prstGeom>
          <a:noFill/>
          <a:ln w="57150">
            <a:solidFill>
              <a:srgbClr val="00A8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951" y="1702743"/>
            <a:ext cx="8051113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C3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pPr algn="l" indent="0" marL="0">
              <a:lnSpc>
                <a:spcPts val="14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生成式 AI 三层布局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4401" y="2088505"/>
            <a:ext cx="8255198" cy="436364"/>
          </a:xfrm>
          <a:prstGeom prst="roundRect">
            <a:avLst>
              <a:gd name="adj" fmla="val 232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72976" y="2088505"/>
            <a:ext cx="0" cy="436364"/>
          </a:xfrm>
          <a:prstGeom prst="line">
            <a:avLst/>
          </a:prstGeom>
          <a:noFill/>
          <a:ln w="57150">
            <a:solidFill>
              <a:srgbClr val="00A8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951" y="2215307"/>
            <a:ext cx="8051113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C3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pPr algn="l" indent="0" marL="0">
              <a:lnSpc>
                <a:spcPts val="14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治理架构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4401" y="2601069"/>
            <a:ext cx="8255198" cy="436364"/>
          </a:xfrm>
          <a:prstGeom prst="roundRect">
            <a:avLst>
              <a:gd name="adj" fmla="val 232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72976" y="2601069"/>
            <a:ext cx="0" cy="436364"/>
          </a:xfrm>
          <a:prstGeom prst="line">
            <a:avLst/>
          </a:prstGeom>
          <a:noFill/>
          <a:ln w="57150">
            <a:solidFill>
              <a:srgbClr val="00A8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951" y="2727871"/>
            <a:ext cx="8051113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C3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pPr algn="l" indent="0" marL="0">
              <a:lnSpc>
                <a:spcPts val="14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 部门定位与项目选择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4401" y="3113633"/>
            <a:ext cx="8255198" cy="436364"/>
          </a:xfrm>
          <a:prstGeom prst="roundRect">
            <a:avLst>
              <a:gd name="adj" fmla="val 232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72976" y="3113633"/>
            <a:ext cx="0" cy="436364"/>
          </a:xfrm>
          <a:prstGeom prst="line">
            <a:avLst/>
          </a:prstGeom>
          <a:noFill/>
          <a:ln w="57150">
            <a:solidFill>
              <a:srgbClr val="00A8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951" y="3240435"/>
            <a:ext cx="8051113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C3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pPr algn="l" indent="0" marL="0">
              <a:lnSpc>
                <a:spcPts val="14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安全合规与模型策略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4401" y="3626197"/>
            <a:ext cx="8255198" cy="436364"/>
          </a:xfrm>
          <a:prstGeom prst="roundRect">
            <a:avLst>
              <a:gd name="adj" fmla="val 232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72976" y="3626197"/>
            <a:ext cx="0" cy="436364"/>
          </a:xfrm>
          <a:prstGeom prst="line">
            <a:avLst/>
          </a:prstGeom>
          <a:noFill/>
          <a:ln w="57150">
            <a:solidFill>
              <a:srgbClr val="00A8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951" y="3752999"/>
            <a:ext cx="8051113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C3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pPr algn="l" indent="0" marL="0">
              <a:lnSpc>
                <a:spcPts val="14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云优先战略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1C3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诺华概况 - 坚定的长期创新者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17450" y="860375"/>
            <a:ext cx="4178350" cy="4156174"/>
          </a:xfrm>
          <a:prstGeom prst="roundRect">
            <a:avLst>
              <a:gd name="adj" fmla="val 30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42875" dist="28575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44401" y="1190476"/>
            <a:ext cx="40029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2000"/>
              </a:spcAft>
              <a:buNone/>
            </a:pPr>
            <a:r>
              <a:rPr lang="en-US" sz="1600" b="1" dirty="0">
                <a:solidFill>
                  <a:srgbClr val="1C3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长期主义践行者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44401" y="1730127"/>
            <a:ext cx="3924449" cy="102096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6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新药研发</a:t>
            </a:r>
            <a:pPr algn="l" indent="0" marL="0">
              <a:lnSpc>
                <a:spcPts val="156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"双十定律"</a:t>
            </a:r>
            <a:pPr algn="l" indent="0" marL="0">
              <a:lnSpc>
                <a:spcPts val="156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：10 年时间 +10 亿美元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目前可能需要</a:t>
            </a:r>
            <a:pPr algn="l" indent="0" marL="0">
              <a:lnSpc>
                <a:spcPts val="156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年 +20 亿美元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聚焦创新药的研发、生产和推广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在变化的商业世界中坚持长期投入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48200" y="860375"/>
            <a:ext cx="4178350" cy="4156174"/>
          </a:xfrm>
          <a:prstGeom prst="roundRect">
            <a:avLst>
              <a:gd name="adj" fmla="val 3056"/>
            </a:avLst>
          </a:prstGeom>
          <a:solidFill>
            <a:srgbClr val="00A8B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775150" y="1292126"/>
            <a:ext cx="400293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7.66 亿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775150" y="2025551"/>
            <a:ext cx="40029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 年受益于诺华产品的患者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75150" y="2492276"/>
            <a:ext cx="400293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160+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775150" y="3149501"/>
            <a:ext cx="40029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全球正在进行中的临床试验项目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75150" y="3616226"/>
            <a:ext cx="400293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155+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775150" y="4273451"/>
            <a:ext cx="40029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产品覆盖的国家和地区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1C3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生成式 AI 三层布局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81000" y="860375"/>
            <a:ext cx="8382000" cy="1194792"/>
          </a:xfrm>
          <a:prstGeom prst="roundRect">
            <a:avLst>
              <a:gd name="adj" fmla="val 85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9575" y="860375"/>
            <a:ext cx="0" cy="1194792"/>
          </a:xfrm>
          <a:prstGeom prst="line">
            <a:avLst/>
          </a:prstGeom>
          <a:noFill/>
          <a:ln w="57150">
            <a:solidFill>
              <a:srgbClr val="00A8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8650" y="987326"/>
            <a:ext cx="810272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3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普惠型工具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8650" y="1311176"/>
            <a:ext cx="7943850" cy="57894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微软 Copilot</a:t>
            </a:r>
            <a:pPr algn="l" indent="0" marL="0">
              <a:lnSpc>
                <a:spcPts val="132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为知识型员工配备，提升日常工作效率</a:t>
            </a:r>
            <a:endParaRPr lang="en-US" sz="1100" dirty="0"/>
          </a:p>
          <a:p>
            <a:pPr algn="l" marL="114300" indent="-114300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ChatGPT</a:t>
            </a:r>
            <a:pPr algn="l" indent="0" marL="0">
              <a:lnSpc>
                <a:spcPts val="132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数据不用于再训练，保证企业数据安全</a:t>
            </a:r>
            <a:endParaRPr lang="en-US" sz="1100" dirty="0"/>
          </a:p>
          <a:p>
            <a:pPr algn="l" marL="114300" indent="-114300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特点：拿来即用的工具，覆盖生产一线和销售以外的员工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1000" y="2182118"/>
            <a:ext cx="8382000" cy="1194792"/>
          </a:xfrm>
          <a:prstGeom prst="roundRect">
            <a:avLst>
              <a:gd name="adj" fmla="val 85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9575" y="2182118"/>
            <a:ext cx="0" cy="1194792"/>
          </a:xfrm>
          <a:prstGeom prst="line">
            <a:avLst/>
          </a:prstGeom>
          <a:noFill/>
          <a:ln w="57150">
            <a:solidFill>
              <a:srgbClr val="1C3D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8650" y="2309068"/>
            <a:ext cx="810272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3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企业平台内置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8650" y="2632918"/>
            <a:ext cx="7943850" cy="57894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ERP、CRM、SAP</a:t>
            </a:r>
            <a:pPr algn="l" indent="0" marL="0">
              <a:lnSpc>
                <a:spcPts val="132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中建立大语言能力</a:t>
            </a:r>
            <a:endParaRPr lang="en-US" sz="1100" dirty="0"/>
          </a:p>
          <a:p>
            <a:pPr algn="l" marL="114300" indent="-114300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服务人力资源、IT 部门等内部服务部门</a:t>
            </a:r>
            <a:endParaRPr lang="en-US" sz="1100" dirty="0"/>
          </a:p>
          <a:p>
            <a:pPr algn="l" marL="114300" indent="-114300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重点：利用好套件，具有前瞻性，避免重复造轮子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1000" y="3503861"/>
            <a:ext cx="8382000" cy="1194792"/>
          </a:xfrm>
          <a:prstGeom prst="roundRect">
            <a:avLst>
              <a:gd name="adj" fmla="val 85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09575" y="3503861"/>
            <a:ext cx="0" cy="1194792"/>
          </a:xfrm>
          <a:prstGeom prst="line">
            <a:avLst/>
          </a:prstGeom>
          <a:noFill/>
          <a:ln w="5715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8650" y="3630811"/>
            <a:ext cx="810272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3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定制化大语言模型应用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8650" y="3954661"/>
            <a:ext cx="7943850" cy="57894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 平台</a:t>
            </a:r>
            <a:pPr algn="l" indent="0" marL="0">
              <a:lnSpc>
                <a:spcPts val="132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接入微软模型、AWS Bedrock、本土 DIFY</a:t>
            </a:r>
            <a:endParaRPr lang="en-US" sz="1100" dirty="0"/>
          </a:p>
          <a:p>
            <a:pPr algn="l" marL="114300" indent="-114300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通过拖拉拽实现 workflow 和 AI agent</a:t>
            </a:r>
            <a:endParaRPr lang="en-US" sz="1100" dirty="0"/>
          </a:p>
          <a:p>
            <a:pPr algn="l" marL="114300" indent="-114300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让业务人员快速低成本在安全环境下探索创新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19125"/>
          </a:xfrm>
          <a:prstGeom prst="rect">
            <a:avLst/>
          </a:prstGeom>
          <a:solidFill>
            <a:srgbClr val="1C3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52400"/>
            <a:ext cx="829066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AI 治理架构 - 从混乱到有序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54051" y="720626"/>
            <a:ext cx="6235750" cy="539651"/>
          </a:xfrm>
          <a:prstGeom prst="roundRect">
            <a:avLst>
              <a:gd name="adj" fmla="val 14120"/>
            </a:avLst>
          </a:prstGeom>
          <a:solidFill>
            <a:srgbClr val="1C3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24865" y="796826"/>
            <a:ext cx="58941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一把手挂帅 - 管理委员会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24865" y="1022152"/>
            <a:ext cx="58941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和高管团队高度重视，顶层领导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33900" y="1311027"/>
            <a:ext cx="777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3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54051" y="1533227"/>
            <a:ext cx="6235750" cy="539651"/>
          </a:xfrm>
          <a:prstGeom prst="roundRect">
            <a:avLst>
              <a:gd name="adj" fmla="val 14120"/>
            </a:avLst>
          </a:prstGeom>
          <a:solidFill>
            <a:srgbClr val="00A8B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624865" y="1609427"/>
            <a:ext cx="58941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领导委员会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24865" y="1834753"/>
            <a:ext cx="58941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跨部门组成，审批项目方向和 ROI 回报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33900" y="2123629"/>
            <a:ext cx="777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3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30238" y="2345829"/>
            <a:ext cx="6283375" cy="539651"/>
          </a:xfrm>
          <a:prstGeom prst="roundRect">
            <a:avLst>
              <a:gd name="adj" fmla="val 1412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1454051" y="2345829"/>
            <a:ext cx="0" cy="539651"/>
          </a:xfrm>
          <a:prstGeom prst="line">
            <a:avLst/>
          </a:prstGeom>
          <a:noFill/>
          <a:ln w="47625">
            <a:solidFill>
              <a:srgbClr val="00A8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06463" y="2422029"/>
            <a:ext cx="58941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卓越中心（IT 为核心）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06463" y="2647355"/>
            <a:ext cx="58941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负责交付、项目管理、运维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33900" y="2936230"/>
            <a:ext cx="777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3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30238" y="3158430"/>
            <a:ext cx="6283375" cy="539651"/>
          </a:xfrm>
          <a:prstGeom prst="roundRect">
            <a:avLst>
              <a:gd name="adj" fmla="val 14120"/>
            </a:avLst>
          </a:prstGeom>
          <a:solidFill>
            <a:srgbClr val="FFF9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1454051" y="3158430"/>
            <a:ext cx="0" cy="539651"/>
          </a:xfrm>
          <a:prstGeom prst="line">
            <a:avLst/>
          </a:prstGeom>
          <a:noFill/>
          <a:ln w="47625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06463" y="3234630"/>
            <a:ext cx="58941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论坛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706463" y="3459956"/>
            <a:ext cx="58941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案例交流中心，分享最佳实践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3D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191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52400"/>
            <a:ext cx="829066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AI 治理三要素 - 飞轮效应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44401" y="809625"/>
            <a:ext cx="2294483" cy="3600748"/>
          </a:xfrm>
          <a:prstGeom prst="roundRect">
            <a:avLst>
              <a:gd name="adj" fmla="val 442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15766" y="1457325"/>
            <a:ext cx="1951753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600"/>
              </a:spcBef>
              <a:spcAft>
                <a:spcPts val="1000"/>
              </a:spcAft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🏗️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15766" y="2184350"/>
            <a:ext cx="19517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C3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治理架构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5766" y="2514451"/>
            <a:ext cx="1951753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 CEO 到执行层的完整体系，确保资源有效投入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929384" y="1114425"/>
            <a:ext cx="310896" cy="2991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dirty="0">
                <a:solidFill>
                  <a:srgbClr val="00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424684" y="809625"/>
            <a:ext cx="2294632" cy="3600748"/>
          </a:xfrm>
          <a:prstGeom prst="roundRect">
            <a:avLst>
              <a:gd name="adj" fmla="val 442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596048" y="1457325"/>
            <a:ext cx="195190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600"/>
              </a:spcBef>
              <a:spcAft>
                <a:spcPts val="1000"/>
              </a:spcAft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596048" y="2184350"/>
            <a:ext cx="19519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C3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论坛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96048" y="2514451"/>
            <a:ext cx="1951905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知识共享、案例交流、避免重复造轮子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09816" y="1114425"/>
            <a:ext cx="310896" cy="2991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dirty="0">
                <a:solidFill>
                  <a:srgbClr val="00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5116" y="809625"/>
            <a:ext cx="2294483" cy="3600748"/>
          </a:xfrm>
          <a:prstGeom prst="roundRect">
            <a:avLst>
              <a:gd name="adj" fmla="val 442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576481" y="1457325"/>
            <a:ext cx="1951753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600"/>
              </a:spcBef>
              <a:spcAft>
                <a:spcPts val="1000"/>
              </a:spcAft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576481" y="2184350"/>
            <a:ext cx="19517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C3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素养提升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76481" y="2514451"/>
            <a:ext cx="1951753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按岗位定制培训，形成飞轮效应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-91440" y="4676924"/>
            <a:ext cx="9326880" cy="326975"/>
          </a:xfrm>
          <a:prstGeom prst="rect">
            <a:avLst/>
          </a:prstGeom>
          <a:noFill/>
          <a:ln/>
        </p:spPr>
        <p:txBody>
          <a:bodyPr wrap="square" lIns="508000" tIns="0" rIns="508000" bIns="127000" rtlCol="0" anchor="t"/>
          <a:lstStyle/>
          <a:p>
            <a:pPr algn="ctr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飞轮效应：业务员工更愿意使用 AI → 产生更多好点子 → 反哺 AI 卓越中心 → IT 做更多有价值项目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19125"/>
          </a:xfrm>
          <a:prstGeom prst="rect">
            <a:avLst/>
          </a:prstGeom>
          <a:solidFill>
            <a:srgbClr val="1C3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52400"/>
            <a:ext cx="829066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IT 部门定位与项目选择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809625"/>
            <a:ext cx="4071938" cy="4143375"/>
          </a:xfrm>
          <a:prstGeom prst="roundRect">
            <a:avLst>
              <a:gd name="adj" fmla="val 24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1000125"/>
            <a:ext cx="3764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C3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部门定位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71500" y="1355675"/>
            <a:ext cx="3690937" cy="1161455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30"/>
              </a:lnSpc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平台运营商</a:t>
            </a:r>
            <a:pPr algn="l" indent="0" marL="0">
              <a:lnSpc>
                <a:spcPts val="143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，而非应用主人</a:t>
            </a:r>
            <a:endParaRPr lang="en-US" sz="1100" dirty="0"/>
          </a:p>
          <a:p>
            <a:pPr algn="l" marL="114300" indent="-114300">
              <a:lnSpc>
                <a:spcPts val="143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搭建平台，提供好用、性价比高、安全的模型</a:t>
            </a:r>
            <a:endParaRPr lang="en-US" sz="1100" dirty="0"/>
          </a:p>
          <a:p>
            <a:pPr algn="l" marL="114300" indent="-114300">
              <a:lnSpc>
                <a:spcPts val="143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制定 AI 使用方式和规范</a:t>
            </a:r>
            <a:endParaRPr lang="en-US" sz="1100" dirty="0"/>
          </a:p>
          <a:p>
            <a:pPr algn="l" marL="114300" indent="-114300">
              <a:lnSpc>
                <a:spcPts val="143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业务才是应用的主人</a:t>
            </a:r>
            <a:endParaRPr lang="en-US" sz="1100" dirty="0"/>
          </a:p>
          <a:p>
            <a:pPr algn="l" marL="114300" indent="-114300">
              <a:lnSpc>
                <a:spcPts val="143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未来：CAIO 是 CIO 的发展机会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43438" y="809625"/>
            <a:ext cx="4119562" cy="4143375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667250" y="809625"/>
            <a:ext cx="0" cy="4143375"/>
          </a:xfrm>
          <a:prstGeom prst="line">
            <a:avLst/>
          </a:prstGeom>
          <a:noFill/>
          <a:ln w="47625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81563" y="1000125"/>
            <a:ext cx="3764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C3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项目选择原则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81563" y="1355675"/>
            <a:ext cx="3690937" cy="91648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30"/>
              </a:lnSpc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技术是否支持</a:t>
            </a:r>
            <a:pPr algn="l" indent="0" marL="0">
              <a:lnSpc>
                <a:spcPts val="143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技术上 ready</a:t>
            </a:r>
            <a:endParaRPr lang="en-US" sz="1100" dirty="0"/>
          </a:p>
          <a:p>
            <a:pPr algn="l" marL="114300" indent="-114300">
              <a:lnSpc>
                <a:spcPts val="1430"/>
              </a:lnSpc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业务是否有真正需求</a:t>
            </a:r>
            <a:pPr algn="l" indent="0" marL="0">
              <a:lnSpc>
                <a:spcPts val="143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业务负责人明确表态</a:t>
            </a:r>
            <a:endParaRPr lang="en-US" sz="1100" dirty="0"/>
          </a:p>
          <a:p>
            <a:pPr algn="l" marL="114300" indent="-114300">
              <a:lnSpc>
                <a:spcPts val="1430"/>
              </a:lnSpc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业务决心</a:t>
            </a:r>
            <a:pPr algn="l" indent="0" marL="0">
              <a:lnSpc>
                <a:spcPts val="143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是否决心做成</a:t>
            </a:r>
            <a:endParaRPr lang="en-US" sz="1100" dirty="0"/>
          </a:p>
          <a:p>
            <a:pPr algn="l" marL="114300" indent="-114300">
              <a:lnSpc>
                <a:spcPts val="143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分清：做真正的产品还是 POC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81563" y="2399109"/>
            <a:ext cx="3690937" cy="869752"/>
          </a:xfrm>
          <a:prstGeom prst="roundRect">
            <a:avLst>
              <a:gd name="adj" fmla="val 8761"/>
            </a:avLst>
          </a:prstGeom>
          <a:solidFill>
            <a:srgbClr val="FFF9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900613" y="2399109"/>
            <a:ext cx="0" cy="869752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46613" y="2653010"/>
            <a:ext cx="346691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i="1" dirty="0">
                <a:solidFill>
                  <a:srgbClr val="1C3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"对于 IT 来说，是因为相信所以看见；但对于业务来说，更多的是看见了才会相信。"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19125"/>
          </a:xfrm>
          <a:prstGeom prst="rect">
            <a:avLst/>
          </a:prstGeom>
          <a:solidFill>
            <a:srgbClr val="1C3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52400"/>
            <a:ext cx="829066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安全合规策略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746075"/>
            <a:ext cx="8382000" cy="881955"/>
          </a:xfrm>
          <a:prstGeom prst="roundRect">
            <a:avLst>
              <a:gd name="adj" fmla="val 115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9575" y="746075"/>
            <a:ext cx="0" cy="881955"/>
          </a:xfrm>
          <a:prstGeom prst="line">
            <a:avLst/>
          </a:prstGeom>
          <a:noFill/>
          <a:ln w="57150">
            <a:solidFill>
              <a:srgbClr val="00A8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8650" y="873026"/>
            <a:ext cx="810272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C3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数据泄漏防护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8650" y="1145977"/>
            <a:ext cx="8102727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只与最靠谱的公司合作，通过 API 方式接入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8650" y="1323529"/>
            <a:ext cx="8102727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对厂商进行深入沟通和了解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1000" y="1729532"/>
            <a:ext cx="8382000" cy="881955"/>
          </a:xfrm>
          <a:prstGeom prst="roundRect">
            <a:avLst>
              <a:gd name="adj" fmla="val 115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09575" y="1729532"/>
            <a:ext cx="0" cy="881955"/>
          </a:xfrm>
          <a:prstGeom prst="line">
            <a:avLst/>
          </a:prstGeom>
          <a:noFill/>
          <a:ln w="57150">
            <a:solidFill>
              <a:srgbClr val="1C3D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8650" y="1856482"/>
            <a:ext cx="810272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C3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合规认证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8650" y="2129433"/>
            <a:ext cx="8102727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中国策略：</a:t>
            </a:r>
            <a:pPr algn="l" indent="0" marL="0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使用国内头部互联网公司的大语言模型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8650" y="2306985"/>
            <a:ext cx="8102727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确保 100% 合规，通过中国认证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1000" y="2712988"/>
            <a:ext cx="8382000" cy="881955"/>
          </a:xfrm>
          <a:prstGeom prst="roundRect">
            <a:avLst>
              <a:gd name="adj" fmla="val 115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09575" y="2712988"/>
            <a:ext cx="0" cy="881955"/>
          </a:xfrm>
          <a:prstGeom prst="line">
            <a:avLst/>
          </a:prstGeom>
          <a:noFill/>
          <a:ln w="5715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8650" y="2839938"/>
            <a:ext cx="810272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C3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两层保护机制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8650" y="3112889"/>
            <a:ext cx="8102727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第一层：选择模型时对厂商深入调研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8650" y="3290441"/>
            <a:ext cx="8102727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第二层：应用阶段由内部岗位验证后再使用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1000" y="3696444"/>
            <a:ext cx="8382000" cy="881955"/>
          </a:xfrm>
          <a:prstGeom prst="roundRect">
            <a:avLst>
              <a:gd name="adj" fmla="val 115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09575" y="3696444"/>
            <a:ext cx="0" cy="881955"/>
          </a:xfrm>
          <a:prstGeom prst="line">
            <a:avLst/>
          </a:prstGeom>
          <a:noFill/>
          <a:ln w="5715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8650" y="3823395"/>
            <a:ext cx="810272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C3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可解释性要求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8650" y="4096345"/>
            <a:ext cx="8102727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生成的建议必须能够被解释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8650" y="4273897"/>
            <a:ext cx="8102727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使用可追踪思考链的人工智能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19125"/>
          </a:xfrm>
          <a:prstGeom prst="rect">
            <a:avLst/>
          </a:prstGeom>
          <a:solidFill>
            <a:srgbClr val="1C3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52400"/>
            <a:ext cx="829066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模型选择与使用策略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809625"/>
            <a:ext cx="4095750" cy="4143375"/>
          </a:xfrm>
          <a:prstGeom prst="roundRect">
            <a:avLst>
              <a:gd name="adj" fmla="val 24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1000125"/>
            <a:ext cx="37890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C3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组合策略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71500" y="1355675"/>
            <a:ext cx="3714750" cy="671513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30"/>
              </a:lnSpc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商业模型</a:t>
            </a:r>
            <a:pPr algn="l" indent="0" marL="0">
              <a:lnSpc>
                <a:spcPts val="143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l" indent="0" marL="0">
              <a:lnSpc>
                <a:spcPts val="143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开源模型</a:t>
            </a:r>
            <a:pPr algn="l" indent="0" marL="0">
              <a:lnSpc>
                <a:spcPts val="143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l" indent="0" marL="0">
              <a:lnSpc>
                <a:spcPts val="143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私有化部署</a:t>
            </a:r>
            <a:pPr algn="l" indent="0" marL="0">
              <a:lnSpc>
                <a:spcPts val="143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l" indent="0" marL="0">
              <a:lnSpc>
                <a:spcPts val="143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100" dirty="0"/>
          </a:p>
          <a:p>
            <a:pPr algn="l" marL="114300" indent="-114300">
              <a:lnSpc>
                <a:spcPts val="143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私有化部署考量：模型参数大小 vs 经济性</a:t>
            </a:r>
            <a:endParaRPr lang="en-US" sz="1100" dirty="0"/>
          </a:p>
          <a:p>
            <a:pPr algn="l" marL="114300" indent="-114300">
              <a:lnSpc>
                <a:spcPts val="143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案例：翻译项目选择 32B 模型而非 70B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71500" y="2179588"/>
            <a:ext cx="37890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C3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技术路线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71500" y="2535138"/>
            <a:ext cx="3714750" cy="42654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30"/>
              </a:lnSpc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当前主流：</a:t>
            </a:r>
            <a:pPr algn="l" indent="0" marL="0">
              <a:lnSpc>
                <a:spcPts val="143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提示词工程 + RAG</a:t>
            </a:r>
            <a:endParaRPr lang="en-US" sz="1100" dirty="0"/>
          </a:p>
          <a:p>
            <a:pPr algn="l" marL="114300" indent="-114300">
              <a:lnSpc>
                <a:spcPts val="1430"/>
              </a:lnSpc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未来趋势：</a:t>
            </a:r>
            <a:pPr algn="l" indent="0" marL="0">
              <a:lnSpc>
                <a:spcPts val="143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微调（Fine-tuning）用例将增加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67250" y="809625"/>
            <a:ext cx="4095750" cy="4143375"/>
          </a:xfrm>
          <a:prstGeom prst="roundRect">
            <a:avLst>
              <a:gd name="adj" fmla="val 2481"/>
            </a:avLst>
          </a:prstGeom>
          <a:solidFill>
            <a:srgbClr val="00A8B5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57750" y="1000125"/>
            <a:ext cx="37890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模型类型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57750" y="1853952"/>
            <a:ext cx="37890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应用场景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57750" y="2209502"/>
            <a:ext cx="3714750" cy="671513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3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提示词工程 - 预设指令</a:t>
            </a:r>
            <a:endParaRPr lang="en-US" sz="1100" dirty="0"/>
          </a:p>
          <a:p>
            <a:pPr algn="l" marL="114300" indent="-114300">
              <a:lnSpc>
                <a:spcPts val="143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- 内部数据挂载</a:t>
            </a:r>
            <a:endParaRPr lang="en-US" sz="1100" dirty="0"/>
          </a:p>
          <a:p>
            <a:pPr algn="l" marL="114300" indent="-114300">
              <a:lnSpc>
                <a:spcPts val="143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微调 - 特定场景优化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19125"/>
          </a:xfrm>
          <a:prstGeom prst="rect">
            <a:avLst/>
          </a:prstGeom>
          <a:solidFill>
            <a:srgbClr val="1C3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52400"/>
            <a:ext cx="829066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云优先战略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809625"/>
            <a:ext cx="4071938" cy="4143375"/>
          </a:xfrm>
          <a:prstGeom prst="roundRect">
            <a:avLst>
              <a:gd name="adj" fmla="val 24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1000125"/>
            <a:ext cx="3764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C3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为什么选择亚马逊云科技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71500" y="1355675"/>
            <a:ext cx="3690937" cy="650677"/>
          </a:xfrm>
          <a:prstGeom prst="roundRect">
            <a:avLst>
              <a:gd name="adj" fmla="val 11711"/>
            </a:avLst>
          </a:prstGeom>
          <a:solidFill>
            <a:srgbClr val="F0F7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90550" y="1355675"/>
            <a:ext cx="0" cy="650677"/>
          </a:xfrm>
          <a:prstGeom prst="line">
            <a:avLst/>
          </a:prstGeom>
          <a:noFill/>
          <a:ln w="38100">
            <a:solidFill>
              <a:srgbClr val="1C3D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6550" y="1457176"/>
            <a:ext cx="34669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C3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弹性敏捷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6550" y="1723876"/>
            <a:ext cx="346691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快速开关资源，小成本试错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71500" y="2082552"/>
            <a:ext cx="3690937" cy="650677"/>
          </a:xfrm>
          <a:prstGeom prst="roundRect">
            <a:avLst>
              <a:gd name="adj" fmla="val 11711"/>
            </a:avLst>
          </a:prstGeom>
          <a:solidFill>
            <a:srgbClr val="F0F7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90550" y="2082552"/>
            <a:ext cx="0" cy="650677"/>
          </a:xfrm>
          <a:prstGeom prst="line">
            <a:avLst/>
          </a:prstGeom>
          <a:noFill/>
          <a:ln w="38100">
            <a:solidFill>
              <a:srgbClr val="1C3D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6550" y="2184053"/>
            <a:ext cx="34669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C3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最佳实践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6550" y="2450753"/>
            <a:ext cx="346691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 10 开始而非从零开始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71500" y="2809429"/>
            <a:ext cx="3690937" cy="650677"/>
          </a:xfrm>
          <a:prstGeom prst="roundRect">
            <a:avLst>
              <a:gd name="adj" fmla="val 11711"/>
            </a:avLst>
          </a:prstGeom>
          <a:solidFill>
            <a:srgbClr val="F0F7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90550" y="2809429"/>
            <a:ext cx="0" cy="650677"/>
          </a:xfrm>
          <a:prstGeom prst="line">
            <a:avLst/>
          </a:prstGeom>
          <a:noFill/>
          <a:ln w="38100">
            <a:solidFill>
              <a:srgbClr val="1C3D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6550" y="2910929"/>
            <a:ext cx="34669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C3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信息安全合规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6550" y="3177629"/>
            <a:ext cx="346691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跨国企业重视数据安全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1500" y="3536305"/>
            <a:ext cx="3690937" cy="650677"/>
          </a:xfrm>
          <a:prstGeom prst="roundRect">
            <a:avLst>
              <a:gd name="adj" fmla="val 11711"/>
            </a:avLst>
          </a:prstGeom>
          <a:solidFill>
            <a:srgbClr val="F0F7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90550" y="3536305"/>
            <a:ext cx="0" cy="650677"/>
          </a:xfrm>
          <a:prstGeom prst="line">
            <a:avLst/>
          </a:prstGeom>
          <a:noFill/>
          <a:ln w="38100">
            <a:solidFill>
              <a:srgbClr val="1C3D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6550" y="3637806"/>
            <a:ext cx="34669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C3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文化借鉴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6550" y="3904506"/>
            <a:ext cx="346691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亚马逊的数字化转型实践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43438" y="809625"/>
            <a:ext cx="4119562" cy="4143375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667250" y="809625"/>
            <a:ext cx="0" cy="4143375"/>
          </a:xfrm>
          <a:prstGeom prst="line">
            <a:avLst/>
          </a:prstGeom>
          <a:noFill/>
          <a:ln w="47625">
            <a:solidFill>
              <a:srgbClr val="00A8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81563" y="1000125"/>
            <a:ext cx="3764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C3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诺华中国部署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81563" y="1355675"/>
            <a:ext cx="3690937" cy="1056977"/>
          </a:xfrm>
          <a:prstGeom prst="roundRect">
            <a:avLst>
              <a:gd name="adj" fmla="val 9612"/>
            </a:avLst>
          </a:prstGeom>
          <a:solidFill>
            <a:srgbClr val="00A8B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033963" y="1508075"/>
            <a:ext cx="34538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大数据平台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33963" y="1819126"/>
            <a:ext cx="34538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部署于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亚马逊云科技北京区域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33963" y="2025402"/>
            <a:ext cx="34538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100% 合规 ✅ 数据安全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81563" y="2565053"/>
            <a:ext cx="3764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C3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未来规划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81563" y="2920603"/>
            <a:ext cx="3690937" cy="644426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更多业务场景上云</a:t>
            </a:r>
            <a:endParaRPr lang="en-US" sz="1000" dirty="0"/>
          </a:p>
          <a:p>
            <a:pPr algn="l" marL="114300" indent="-1143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构建医患互动系统</a:t>
            </a:r>
            <a:endParaRPr lang="en-US" sz="1000" dirty="0"/>
          </a:p>
          <a:p>
            <a:pPr algn="l" marL="114300" indent="-1143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持续迭代开发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19125"/>
          </a:xfrm>
          <a:prstGeom prst="rect">
            <a:avLst/>
          </a:prstGeom>
          <a:solidFill>
            <a:srgbClr val="1C3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52400"/>
            <a:ext cx="829066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数字化创新三大方向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746075"/>
            <a:ext cx="3975050" cy="962025"/>
          </a:xfrm>
          <a:prstGeom prst="roundRect">
            <a:avLst>
              <a:gd name="adj" fmla="val 10561"/>
            </a:avLst>
          </a:prstGeom>
          <a:solidFill>
            <a:srgbClr val="1C3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5559" y="936575"/>
            <a:ext cx="366593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全球为中国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35559" y="1285726"/>
            <a:ext cx="36659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将全球基于亚马逊云科技的大数据平台和技术带到中国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483001" y="1050875"/>
            <a:ext cx="18155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00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787950" y="746075"/>
            <a:ext cx="3975050" cy="962025"/>
          </a:xfrm>
          <a:prstGeom prst="roundRect">
            <a:avLst>
              <a:gd name="adj" fmla="val 10561"/>
            </a:avLst>
          </a:prstGeom>
          <a:solidFill>
            <a:srgbClr val="1C3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942509" y="936575"/>
            <a:ext cx="366593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在中国为中国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42509" y="1285726"/>
            <a:ext cx="36659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基于中国互联网实践、客户特性和生态构建定制化系统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1000" y="1860500"/>
            <a:ext cx="2709267" cy="1023938"/>
          </a:xfrm>
          <a:prstGeom prst="roundRect">
            <a:avLst>
              <a:gd name="adj" fmla="val 99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81000" y="1884313"/>
            <a:ext cx="2709267" cy="0"/>
          </a:xfrm>
          <a:prstGeom prst="line">
            <a:avLst/>
          </a:prstGeom>
          <a:noFill/>
          <a:ln w="47625">
            <a:solidFill>
              <a:srgbClr val="00A8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3400" y="2060525"/>
            <a:ext cx="245255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C3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 卓越上市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3400" y="2384375"/>
            <a:ext cx="2452557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去中心化临床试验</a:t>
            </a:r>
            <a:pPr algn="l" indent="0" marL="0">
              <a:lnSpc>
                <a:spcPts val="117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（DCT）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3400" y="2558207"/>
            <a:ext cx="2452557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让临床试验做得又快又好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17218" y="1860500"/>
            <a:ext cx="2709416" cy="1023938"/>
          </a:xfrm>
          <a:prstGeom prst="roundRect">
            <a:avLst>
              <a:gd name="adj" fmla="val 99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217218" y="1884313"/>
            <a:ext cx="2709416" cy="0"/>
          </a:xfrm>
          <a:prstGeom prst="line">
            <a:avLst/>
          </a:prstGeom>
          <a:noFill/>
          <a:ln w="47625">
            <a:solidFill>
              <a:srgbClr val="00A8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9618" y="2060525"/>
            <a:ext cx="245270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C3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👨‍⚕️ 精准传递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69618" y="2384375"/>
            <a:ext cx="245270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向医生传递</a:t>
            </a:r>
            <a:pPr algn="l" indent="0" marL="0">
              <a:lnSpc>
                <a:spcPts val="117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更精准、更个性化</a:t>
            </a:r>
            <a:pPr algn="l" indent="0" marL="0">
              <a:lnSpc>
                <a:spcPts val="117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的药品信息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053584" y="1860500"/>
            <a:ext cx="2709416" cy="1023938"/>
          </a:xfrm>
          <a:prstGeom prst="roundRect">
            <a:avLst>
              <a:gd name="adj" fmla="val 99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053584" y="1884313"/>
            <a:ext cx="2709416" cy="0"/>
          </a:xfrm>
          <a:prstGeom prst="line">
            <a:avLst/>
          </a:prstGeom>
          <a:noFill/>
          <a:ln w="47625">
            <a:solidFill>
              <a:srgbClr val="00A8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05984" y="2060525"/>
            <a:ext cx="245270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C3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🧑‍🤝‍🧑 患者中心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05984" y="2384375"/>
            <a:ext cx="245270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以患者为中心</a:t>
            </a:r>
            <a:pPr algn="l" indent="0" marL="0">
              <a:lnSpc>
                <a:spcPts val="117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的病情管理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05984" y="2558207"/>
            <a:ext cx="245270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帮助患者更好地管理自己的病情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3D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35310"/>
            <a:ext cx="8077200" cy="4472732"/>
          </a:xfrm>
          <a:prstGeom prst="roundRect">
            <a:avLst>
              <a:gd name="adj" fmla="val 3407"/>
            </a:avLst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304800" dist="76200" dir="540000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41248" y="525810"/>
            <a:ext cx="746150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1C3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总结与展望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1030635"/>
            <a:ext cx="7461504" cy="200025"/>
          </a:xfrm>
          <a:prstGeom prst="rect">
            <a:avLst/>
          </a:prstGeom>
          <a:noFill/>
          <a:ln/>
        </p:spPr>
        <p:txBody>
          <a:bodyPr wrap="square" lIns="22860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长期主义</a:t>
            </a:r>
            <a:pPr algn="l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是诺华的核心价值观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1294061"/>
            <a:ext cx="7461504" cy="200025"/>
          </a:xfrm>
          <a:prstGeom prst="rect">
            <a:avLst/>
          </a:prstGeom>
          <a:noFill/>
          <a:ln/>
        </p:spPr>
        <p:txBody>
          <a:bodyPr wrap="square" lIns="22860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三层 AI 布局</a:t>
            </a:r>
            <a:pPr algn="l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覆盖从普惠工具到定制应用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557486"/>
            <a:ext cx="7461504" cy="200025"/>
          </a:xfrm>
          <a:prstGeom prst="rect">
            <a:avLst/>
          </a:prstGeom>
          <a:noFill/>
          <a:ln/>
        </p:spPr>
        <p:txBody>
          <a:bodyPr wrap="square" lIns="22860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治理架构</a:t>
            </a:r>
            <a:pPr algn="l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确保从混乱到有序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820912"/>
            <a:ext cx="7461504" cy="200025"/>
          </a:xfrm>
          <a:prstGeom prst="rect">
            <a:avLst/>
          </a:prstGeom>
          <a:noFill/>
          <a:ln/>
        </p:spPr>
        <p:txBody>
          <a:bodyPr wrap="square" lIns="22860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IT 定位</a:t>
            </a:r>
            <a:pPr algn="l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为平台运营商，业务是应用主人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084338"/>
            <a:ext cx="7461504" cy="200025"/>
          </a:xfrm>
          <a:prstGeom prst="rect">
            <a:avLst/>
          </a:prstGeom>
          <a:noFill/>
          <a:ln/>
        </p:spPr>
        <p:txBody>
          <a:bodyPr wrap="square" lIns="22860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安全合规</a:t>
            </a:r>
            <a:pPr algn="l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是医药企业的生命线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411313"/>
            <a:ext cx="7315200" cy="733127"/>
          </a:xfrm>
          <a:prstGeom prst="roundRect">
            <a:avLst>
              <a:gd name="adj" fmla="val 10394"/>
            </a:avLst>
          </a:prstGeom>
          <a:solidFill>
            <a:srgbClr val="FFF9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938213" y="2411313"/>
            <a:ext cx="0" cy="733127"/>
          </a:xfrm>
          <a:prstGeom prst="line">
            <a:avLst/>
          </a:prstGeom>
          <a:noFill/>
          <a:ln w="47625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8839" y="2677864"/>
            <a:ext cx="71539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i="1" dirty="0">
                <a:solidFill>
                  <a:srgbClr val="1C3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"选择项目一定要关注业务、由业务负责人来确定目标，这样就更容易把项目落地。"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3280916"/>
            <a:ext cx="7315200" cy="0"/>
          </a:xfrm>
          <a:prstGeom prst="line">
            <a:avLst/>
          </a:prstGeom>
          <a:noFill/>
          <a:ln w="1905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417391"/>
            <a:ext cx="746150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🔮 未来趋势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3741241"/>
            <a:ext cx="7315200" cy="83820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培训和推理成本持续下降</a:t>
            </a:r>
            <a:endParaRPr lang="en-US" sz="1000" dirty="0"/>
          </a:p>
          <a:p>
            <a:pPr algn="l" marL="127000" indent="-1270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微调用例将增加</a:t>
            </a:r>
            <a:endParaRPr lang="en-US" sz="1000" dirty="0"/>
          </a:p>
          <a:p>
            <a:pPr algn="l" marL="127000" indent="-1270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智能体成为真正的助理</a:t>
            </a:r>
            <a:endParaRPr lang="en-US" sz="1000" dirty="0"/>
          </a:p>
          <a:p>
            <a:pPr algn="l" marL="127000" indent="-1270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自定义开发融入套件中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诺华制药数字化与 AI 治理实践</dc:title>
  <dc:subject>PptxGenJS Presentation</dc:subject>
  <dc:creator>李智伟 - 诺华制药</dc:creator>
  <cp:lastModifiedBy>李智伟 - 诺华制药</cp:lastModifiedBy>
  <cp:revision>1</cp:revision>
  <dcterms:created xsi:type="dcterms:W3CDTF">2026-02-20T01:08:18Z</dcterms:created>
  <dcterms:modified xsi:type="dcterms:W3CDTF">2026-02-20T01:08:18Z</dcterms:modified>
</cp:coreProperties>
</file>